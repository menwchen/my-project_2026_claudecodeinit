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D2DC"/>
                </a:solidFill>
              </a:rPr>
              <a:t>사단법인 기본사회 부설 기본사회정책연구소 정책토론회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98DB"/>
                </a:solidFill>
              </a:rPr>
              <a:t>《농어촌기본소득, 제로섬인가 지역활력인가》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</a:rPr>
              <a:t>농어촌 기본소득 언론 보도,</a:t>
            </a:r>
          </a:p>
          <a:p>
            <a:pPr algn="ctr">
              <a:spcBef>
                <a:spcPts val="800"/>
              </a:spcBef>
            </a:pPr>
            <a:r>
              <a:rPr sz="4200" b="1">
                <a:solidFill>
                  <a:srgbClr val="F1C40F"/>
                </a:solidFill>
              </a:rPr>
              <a:t>무엇이 왜곡되었나?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발표자: 송종운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C8D2DC"/>
                </a:solidFill>
              </a:rPr>
              <a:t>기본사회정책연구소 소장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3498DB"/>
                </a:solidFill>
              </a:rPr>
              <a:t>1. 들어가며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정책에 대한 비판은 얼마든지 가능하고 또 필요합니다.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</a:rPr>
              <a:t>그러나 비판이 정책의 개선으로 이어지려면,</a:t>
            </a:r>
          </a:p>
          <a:p>
            <a:pPr algn="l">
              <a:spcBef>
                <a:spcPts val="400"/>
              </a:spcBef>
            </a:pPr>
            <a:r>
              <a:rPr sz="2000" b="1">
                <a:solidFill>
                  <a:srgbClr val="F1C40F"/>
                </a:solidFill>
              </a:rPr>
              <a:t>최소한의 논리적 정합성과 사실에 대한 균형 잡힌 해석이 전제되어야 합니다.</a:t>
            </a:r>
          </a:p>
          <a:p>
            <a:pPr algn="l">
              <a:spcBef>
                <a:spcPts val="2000"/>
              </a:spcBef>
            </a:pPr>
            <a:r>
              <a:rPr sz="12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2200" b="1">
                <a:solidFill>
                  <a:srgbClr val="3498DB"/>
                </a:solidFill>
              </a:rPr>
              <a:t>▎분석 대상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657600"/>
            <a:ext cx="9997135" cy="1097280"/>
          </a:xfrm>
          <a:prstGeom prst="roundRect">
            <a:avLst/>
          </a:prstGeom>
          <a:solidFill>
            <a:srgbClr val="26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2DC"/>
                </a:solidFill>
              </a:rPr>
              <a:t>조선일보 2026.02.26.  김정훈 기자</a:t>
            </a:r>
          </a:p>
          <a:p>
            <a:pPr algn="l">
              <a:spcBef>
                <a:spcPts val="400"/>
              </a:spcBef>
            </a:pPr>
            <a:r>
              <a:rPr sz="2000" b="1">
                <a:solidFill>
                  <a:srgbClr val="FFFFFF"/>
                </a:solidFill>
              </a:rPr>
              <a:t>「[동서남북] 요지경 농어촌기본소득」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E74C3C"/>
                </a:solidFill>
              </a:rPr>
              <a:t>→ 제목부터 '요지경'. 결론이 먼저 정해진 보도의 전형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E74C3C"/>
                </a:solidFill>
              </a:rPr>
              <a:t>왜곡 ①  '제로섬 게임' 프레이밍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4754880"/>
          </a:xfrm>
          <a:prstGeom prst="roundRect">
            <a:avLst/>
          </a:prstGeom>
          <a:solidFill>
            <a:srgbClr val="26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74C3C"/>
                </a:solidFill>
              </a:rPr>
              <a:t>📰 보도 내용</a:t>
            </a:r>
          </a:p>
          <a:p>
            <a:pPr algn="l">
              <a:spcBef>
                <a:spcPts val="800"/>
              </a:spcBef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FFFFFF"/>
                </a:solidFill>
              </a:rPr>
              <a:t>• 신안 +3,000명 ↔ 목포 -3,300명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FFFFFF"/>
                </a:solidFill>
              </a:rPr>
              <a:t>• 청양 +900명 ↔ 공주 -700명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FFFFFF"/>
                </a:solidFill>
              </a:rPr>
              <a:t>• 영양 +800명 ↔ 안동 -1,200명</a:t>
            </a:r>
          </a:p>
          <a:p>
            <a:pPr algn="l">
              <a:spcBef>
                <a:spcPts val="1200"/>
              </a:spcBef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2000" b="1">
                <a:solidFill>
                  <a:srgbClr val="F1C40F"/>
                </a:solidFill>
              </a:rPr>
              <a:t>"제로섬 게임이다"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C8D2DC"/>
                </a:solidFill>
              </a:rPr>
              <a:t>— 조선일보 칼럼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42255" cy="4754880"/>
          </a:xfrm>
          <a:prstGeom prst="roundRect">
            <a:avLst/>
          </a:prstGeom>
          <a:solidFill>
            <a:srgbClr val="19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C71"/>
                </a:solidFill>
              </a:rPr>
              <a:t>✅ 반론</a:t>
            </a:r>
          </a:p>
          <a:p>
            <a:pPr algn="l">
              <a:spcBef>
                <a:spcPts val="800"/>
              </a:spcBef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700" b="1">
                <a:solidFill>
                  <a:srgbClr val="FFFFFF"/>
                </a:solidFill>
              </a:rPr>
              <a:t>① 주민등록 이동 ≠ 제로섬 증거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E6ECF2"/>
                </a:solidFill>
              </a:rPr>
              <a:t>   기존 생활근거지 복귀, 귀농·귀촌 결정 앞당김 등 다층적 동기 혼재 → 정책이 유도한 방향 그 자체</a:t>
            </a:r>
          </a:p>
          <a:p>
            <a:pPr algn="l">
              <a:spcBef>
                <a:spcPts val="800"/>
              </a:spcBef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700" b="1">
                <a:solidFill>
                  <a:srgbClr val="FFFFFF"/>
                </a:solidFill>
              </a:rPr>
              <a:t>② 상관관계 ≠ 인과관계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E6ECF2"/>
                </a:solidFill>
              </a:rPr>
              <a:t>   목포 감소에는 자연감소, 수도권 유출, 경제적 요인 등 다층적 원인 존재. 통제 없는 단순 비교는 논거 불가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E74C3C"/>
                </a:solidFill>
              </a:rPr>
              <a:t>왜곡 ②  청산면 '실패' 주장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4114800"/>
          </a:xfrm>
          <a:prstGeom prst="roundRect">
            <a:avLst/>
          </a:prstGeom>
          <a:solidFill>
            <a:srgbClr val="26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74C3C"/>
                </a:solidFill>
              </a:rPr>
              <a:t>📰 보도 내용</a:t>
            </a:r>
          </a:p>
          <a:p>
            <a:pPr algn="l">
              <a:spcBef>
                <a:spcPts val="1000"/>
              </a:spcBef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FFFFFF"/>
                </a:solidFill>
              </a:rPr>
              <a:t>• 청산면 인구: 반짝 증가 후 시행 전 대비 -1.4%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FFFFFF"/>
                </a:solidFill>
              </a:rPr>
              <a:t>• 연천군 전체: 같은 기간 -0.6%</a:t>
            </a:r>
          </a:p>
          <a:p>
            <a:pPr algn="l">
              <a:spcBef>
                <a:spcPts val="800"/>
              </a:spcBef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2000" b="1">
                <a:solidFill>
                  <a:srgbClr val="F1C40F"/>
                </a:solidFill>
              </a:rPr>
              <a:t>"청산면의 감소 폭이 더 크다"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C8D2DC"/>
                </a:solidFill>
              </a:rPr>
              <a:t>→ 기본소득이 오히려 해로웠다는 암시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42255" cy="4114800"/>
          </a:xfrm>
          <a:prstGeom prst="roundRect">
            <a:avLst/>
          </a:prstGeom>
          <a:solidFill>
            <a:srgbClr val="19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CC71"/>
                </a:solidFill>
              </a:rPr>
              <a:t>✅ 반사실적 추론(Counterfactual Reasoning)</a:t>
            </a:r>
          </a:p>
          <a:p>
            <a:pPr algn="l">
              <a:spcBef>
                <a:spcPts val="1000"/>
              </a:spcBef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700" b="1">
                <a:solidFill>
                  <a:srgbClr val="FFFFFF"/>
                </a:solidFill>
              </a:rPr>
              <a:t>정책 평가의 기본:</a:t>
            </a:r>
          </a:p>
          <a:p>
            <a:pPr algn="l">
              <a:spcBef>
                <a:spcPts val="800"/>
              </a:spcBef>
            </a:pPr>
            <a:r>
              <a:rPr sz="1800" b="1">
                <a:solidFill>
                  <a:srgbClr val="F1C40F"/>
                </a:solidFill>
              </a:rPr>
              <a:t>"기본소득이 있었던 세계"와
"없었던 세계"를 비교해야 한다</a:t>
            </a:r>
          </a:p>
          <a:p>
            <a:pPr algn="l">
              <a:spcBef>
                <a:spcPts val="1000"/>
              </a:spcBef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E6ECF2"/>
                </a:solidFill>
              </a:rPr>
              <a:t>• 청산면의 기존 감소 추세는?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E6ECF2"/>
                </a:solidFill>
              </a:rPr>
              <a:t>• 기본소득 없었다면 감소폭은?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E6ECF2"/>
                </a:solidFill>
              </a:rPr>
              <a:t>• 인구 구조·기초 여건 차이는?</a:t>
            </a:r>
          </a:p>
          <a:p>
            <a:pPr algn="l">
              <a:spcBef>
                <a:spcPts val="800"/>
              </a:spcBef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2ECC71"/>
                </a:solidFill>
              </a:rPr>
              <a:t>→ 단순 전후 비교는 정책 분석이 아님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E74C3C"/>
                </a:solidFill>
              </a:rPr>
              <a:t>왜곡 ③  '1조 2천억 원' 재정 부담 과장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474720" cy="3657600"/>
          </a:xfrm>
          <a:prstGeom prst="roundRect">
            <a:avLst/>
          </a:prstGeom>
          <a:solidFill>
            <a:srgbClr val="26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74C3C"/>
                </a:solidFill>
              </a:rPr>
              <a:t>📰 보도</a:t>
            </a:r>
          </a:p>
          <a:p>
            <a:pPr algn="l">
              <a:spcBef>
                <a:spcPts val="800"/>
              </a:spcBef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800" b="1">
                <a:solidFill>
                  <a:srgbClr val="F1C40F"/>
                </a:solidFill>
              </a:rPr>
              <a:t>"세금 1조2000억원을
들여 전 국민 중
0.6%가 혜택을 보는
이 사업"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280160"/>
            <a:ext cx="6888175" cy="3657600"/>
          </a:xfrm>
          <a:prstGeom prst="roundRect">
            <a:avLst/>
          </a:prstGeom>
          <a:solidFill>
            <a:srgbClr val="19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6492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CC71"/>
                </a:solidFill>
              </a:rPr>
              <a:t>✅ 맥락을 보면</a:t>
            </a:r>
          </a:p>
          <a:p>
            <a:pPr algn="l">
              <a:spcBef>
                <a:spcPts val="1000"/>
              </a:spcBef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FFFFFF"/>
                </a:solidFill>
              </a:rPr>
              <a:t>2026년 총지출 예산:  727조 9천억 원</a:t>
            </a:r>
          </a:p>
          <a:p>
            <a:pPr algn="l">
              <a:spcBef>
                <a:spcPts val="800"/>
              </a:spcBef>
            </a:pPr>
            <a:r>
              <a:rPr sz="1800" b="1">
                <a:solidFill>
                  <a:srgbClr val="F1C40F"/>
                </a:solidFill>
              </a:rPr>
              <a:t>농어촌 기본소득 연간:  6천억 원  =  총지출의 0.08%</a:t>
            </a:r>
          </a:p>
          <a:p>
            <a:pPr algn="l">
              <a:spcBef>
                <a:spcPts val="1000"/>
              </a:spcBef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E6ECF2"/>
                </a:solidFill>
              </a:rPr>
              <a:t>• 각종 농어촌 보조금·직불금 대비 미미한 수준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E6ECF2"/>
                </a:solidFill>
              </a:rPr>
              <a:t>• 보편적 복지 ✕  →  타깃형 정책 실험 ○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E6ECF2"/>
                </a:solidFill>
              </a:rPr>
              <a:t>• 지역상품권 → 지역경제 순환 효과 미언급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E74C3C"/>
                </a:solidFill>
              </a:rPr>
              <a:t>→ "0.6%만 혜택" 프레이밍은 구조적 위기 대응이라는 정책 본질을 왜곡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E74C3C"/>
                </a:solidFill>
              </a:rPr>
              <a:t>왜곡 ④  '공짜 돈', '돈 뿌리기' 프레이밍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371600"/>
          </a:xfrm>
          <a:prstGeom prst="roundRect">
            <a:avLst/>
          </a:prstGeom>
          <a:solidFill>
            <a:srgbClr val="26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1C40F"/>
                </a:solidFill>
              </a:rPr>
              <a:t>"공돈 받았으니 별점 다섯 개 후하게 줄 것이다"</a:t>
            </a:r>
          </a:p>
          <a:p>
            <a:pPr algn="ctr">
              <a:spcBef>
                <a:spcPts val="800"/>
              </a:spcBef>
            </a:pPr>
            <a:r>
              <a:rPr sz="1800" b="0">
                <a:solidFill>
                  <a:srgbClr val="C8D2DC"/>
                </a:solidFill>
              </a:rPr>
              <a:t>"일회성 돈을 뿌리는 방향으로 선회했다"  /  "즉각 휘발된다"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72865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이 단어 선택 자체가 이미 결론을 내포하고 있습니다.</a:t>
            </a:r>
          </a:p>
          <a:p>
            <a:pPr algn="l">
              <a:spcBef>
                <a:spcPts val="1200"/>
              </a:spcBef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E6ECF2"/>
                </a:solidFill>
              </a:rPr>
              <a:t>기초연금, 아동수당, 근로장려금을 '공짜 돈'이라 부르지 않으면서</a:t>
            </a:r>
          </a:p>
          <a:p>
            <a:pPr algn="l">
              <a:spcBef>
                <a:spcPts val="400"/>
              </a:spcBef>
            </a:pPr>
            <a:r>
              <a:rPr sz="1800" b="1">
                <a:solidFill>
                  <a:srgbClr val="F1C40F"/>
                </a:solidFill>
              </a:rPr>
              <a:t>기본소득만 '공짜 돈'이라 지칭하는 것은 수사적 편향</a:t>
            </a:r>
          </a:p>
          <a:p>
            <a:pPr algn="l">
              <a:spcBef>
                <a:spcPts val="1200"/>
              </a:spcBef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E6ECF2"/>
                </a:solidFill>
              </a:rPr>
              <a:t>전국 229개 기초자치단체 중 60%가 소멸 위험 지역</a:t>
            </a:r>
          </a:p>
          <a:p>
            <a:pPr algn="l">
              <a:spcBef>
                <a:spcPts val="400"/>
              </a:spcBef>
            </a:pPr>
            <a:r>
              <a:rPr sz="1800" b="0">
                <a:solidFill>
                  <a:srgbClr val="E6ECF2"/>
                </a:solidFill>
              </a:rPr>
              <a:t>→ 사람이 살 수 있는 최소한의 경제적 기반 마련 시도를</a:t>
            </a:r>
          </a:p>
          <a:p>
            <a:pPr algn="l">
              <a:spcBef>
                <a:spcPts val="400"/>
              </a:spcBef>
            </a:pPr>
            <a:r>
              <a:rPr sz="1800" b="1">
                <a:solidFill>
                  <a:srgbClr val="E74C3C"/>
                </a:solidFill>
              </a:rPr>
              <a:t>   '돈 뿌리기'로 환원하는 것은 문제의 심각성을 외면하는 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E74C3C"/>
                </a:solidFill>
              </a:rPr>
              <a:t>왜곡 ⑤⑥  '답정너' 폄하  &amp;  '즉각 휘발' 주장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4572000"/>
          </a:xfrm>
          <a:prstGeom prst="roundRect">
            <a:avLst/>
          </a:prstGeom>
          <a:solidFill>
            <a:srgbClr val="26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74C3C"/>
                </a:solidFill>
              </a:rPr>
              <a:t>⑤ 정책 평가를 '답정너'로 일축</a:t>
            </a:r>
          </a:p>
          <a:p>
            <a:pPr algn="l">
              <a:spcBef>
                <a:spcPts val="800"/>
              </a:spcBef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C8D2DC"/>
                </a:solidFill>
              </a:rPr>
              <a:t>보도: 수급자에게 물으면 "답정너"</a:t>
            </a:r>
          </a:p>
          <a:p>
            <a:pPr algn="l">
              <a:spcBef>
                <a:spcPts val="1000"/>
              </a:spcBef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2ECC71"/>
                </a:solidFill>
              </a:rPr>
              <a:t>반론: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E6ECF2"/>
                </a:solidFill>
              </a:rPr>
              <a:t>• 현장 목소리를 원천 차단하는 태도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E6ECF2"/>
                </a:solidFill>
              </a:rPr>
              <a:t>• 실험 설계 비판 ≠ 실험 자체 부정</a:t>
            </a:r>
          </a:p>
          <a:p>
            <a:pPr algn="l">
              <a:spcBef>
                <a:spcPts val="800"/>
              </a:spcBef>
            </a:pPr>
            <a:r>
              <a:rPr sz="1600" b="1">
                <a:solidFill>
                  <a:srgbClr val="F1C40F"/>
                </a:solidFill>
              </a:rPr>
              <a:t>• 정책 실험의 가치 = 근거 기반
  의사결정(evidence-based policy
  making)의 토대를 만드는 것</a:t>
            </a:r>
          </a:p>
          <a:p>
            <a:pPr algn="l">
              <a:spcBef>
                <a:spcPts val="600"/>
              </a:spcBef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E74C3C"/>
                </a:solidFill>
              </a:rPr>
              <a:t>→ 실험 자체를 조롱하는 것은
   비판이 아니라 힐난(詰難)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42255" cy="4572000"/>
          </a:xfrm>
          <a:prstGeom prst="roundRect">
            <a:avLst/>
          </a:prstGeom>
          <a:solidFill>
            <a:srgbClr val="26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74C3C"/>
                </a:solidFill>
              </a:rPr>
              <a:t>⑥ 지역경제 순환 = "즉각 휘발"?</a:t>
            </a:r>
          </a:p>
          <a:p>
            <a:pPr algn="l">
              <a:spcBef>
                <a:spcPts val="800"/>
              </a:spcBef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C8D2DC"/>
                </a:solidFill>
              </a:rPr>
              <a:t>보도: "즉각 휘발된다는 말과
뭐가 다른지 모르겠다"</a:t>
            </a:r>
          </a:p>
          <a:p>
            <a:pPr algn="l">
              <a:spcBef>
                <a:spcPts val="1000"/>
              </a:spcBef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2ECC71"/>
                </a:solidFill>
              </a:rPr>
              <a:t>반론: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E6ECF2"/>
                </a:solidFill>
              </a:rPr>
              <a:t>• 지역상품권 → 지역 소상공인
  매출 → 지역 내 소비·고용 순환</a:t>
            </a:r>
          </a:p>
          <a:p>
            <a:pPr algn="l">
              <a:spcBef>
                <a:spcPts val="800"/>
              </a:spcBef>
            </a:pPr>
            <a:r>
              <a:rPr sz="1600" b="1">
                <a:solidFill>
                  <a:srgbClr val="F1C40F"/>
                </a:solidFill>
              </a:rPr>
              <a:t>• 실증 연구: 지역화폐 1원 지급 시
  생산유발효과 1.5~2배</a:t>
            </a:r>
          </a:p>
          <a:p>
            <a:pPr algn="l">
              <a:spcBef>
                <a:spcPts val="800"/>
              </a:spcBef>
            </a:pPr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E74C3C"/>
                </a:solidFill>
              </a:rPr>
              <a:t>→ "휘발"이 아니라 "순환"
   이해 부족이거나 의도적 폄하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3498DB"/>
                </a:solidFill>
              </a:rPr>
              <a:t>3. 왜곡이 발생하는 구조적 원인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1143000"/>
          </a:xfrm>
          <a:prstGeom prst="roundRect">
            <a:avLst/>
          </a:prstGeom>
          <a:solidFill>
            <a:srgbClr val="26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(1)  결론이 먼저인 보도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E6ECF2"/>
                </a:solidFill>
              </a:rPr>
              <a:t>제목부터 '요지경'. 데이터는 결론을 뒷받침하기 위해 선택적으로 배치. 이는 분석이 아니라 수사(修辭)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39"/>
            <a:ext cx="10728655" cy="1143000"/>
          </a:xfrm>
          <a:prstGeom prst="roundRect">
            <a:avLst/>
          </a:prstGeom>
          <a:solidFill>
            <a:srgbClr val="26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79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(2)  상관관계 ↔ 인과관계 혼동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E6ECF2"/>
                </a:solidFill>
              </a:rPr>
              <a:t>같은 시기 발생한 두 현상을 통제 없이 인과관계로 치환. 통계 해석의 기초 위반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728655" cy="1143000"/>
          </a:xfrm>
          <a:prstGeom prst="roundRect">
            <a:avLst/>
          </a:prstGeom>
          <a:solidFill>
            <a:srgbClr val="26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59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(3)  반사실적 추론의 부재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E6ECF2"/>
                </a:solidFill>
              </a:rPr>
              <a:t>"줄었다"는 사실만 제시하고, "없었다면 얼마나 더 줄었을지"는 묻지 않음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57800"/>
            <a:ext cx="10728655" cy="1143000"/>
          </a:xfrm>
          <a:prstGeom prst="roundRect">
            <a:avLst/>
          </a:prstGeom>
          <a:solidFill>
            <a:srgbClr val="26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4924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</a:rPr>
              <a:t>(4)  정치적 프레이밍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E6ECF2"/>
                </a:solidFill>
              </a:rPr>
              <a:t>"이재명 정부의 공약 사업" — 정책 내용이 아니라 주창자의 정치적 소속이 보도 논조를 결정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2ECC71"/>
                </a:solidFill>
              </a:rPr>
              <a:t>4. 그러면 진짜 질문은 무엇인가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640080"/>
          </a:xfrm>
          <a:prstGeom prst="roundRect">
            <a:avLst/>
          </a:prstGeom>
          <a:solidFill>
            <a:srgbClr val="26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5331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1.  실험 설계는 인과효과를 식별할 수 있을 만큼 정교한가?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10728655" cy="640080"/>
          </a:xfrm>
          <a:prstGeom prst="roundRect">
            <a:avLst/>
          </a:prstGeom>
          <a:solidFill>
            <a:srgbClr val="26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305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2.  2년이라는 기간은 중장기 효과를 측정하기에 충분한가?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39"/>
            <a:ext cx="10728655" cy="640080"/>
          </a:xfrm>
          <a:prstGeom prst="roundRect">
            <a:avLst/>
          </a:prstGeom>
          <a:solidFill>
            <a:srgbClr val="26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07791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3.  월 15만 원은 실질적 행동 변화의 임계점을 넘는가?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11879"/>
            <a:ext cx="10728655" cy="640080"/>
          </a:xfrm>
          <a:prstGeom prst="roundRect">
            <a:avLst/>
          </a:prstGeom>
          <a:solidFill>
            <a:srgbClr val="26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685031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4.  지역 상품권이 소비 자유를 과도하게 제약하지 않는가?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0728655" cy="640080"/>
          </a:xfrm>
          <a:prstGeom prst="roundRect">
            <a:avLst/>
          </a:prstGeom>
          <a:solidFill>
            <a:srgbClr val="26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46227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5.  주거·의료·교육 등 공공서비스 인프라 확충 설계는?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66360"/>
            <a:ext cx="10728655" cy="640080"/>
          </a:xfrm>
          <a:prstGeom prst="roundRect">
            <a:avLst/>
          </a:prstGeom>
          <a:solidFill>
            <a:srgbClr val="26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23951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6.  대상지 탈락 지역(무주군 등)에 대한 보완 대책은?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350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ECC71"/>
                </a:solidFill>
              </a:rPr>
              <a:t>이것이 건설적 비판의 방향입니다.  '공돈 살포' 프레이밍은 정책 무력화의 의도가 읽힙니다.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3498DB"/>
                </a:solidFill>
              </a:rPr>
              <a:t>5. 균형 보도를 위한 제언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02920" cy="502920"/>
          </a:xfrm>
          <a:prstGeom prst="round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1887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1C40F"/>
                </a:solidFill>
              </a:rPr>
              <a:t>총량이 아닌 효과를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1887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6ECF2"/>
                </a:solidFill>
              </a:rPr>
              <a:t>1조 2천억이라는 숫자가 아니라, 총지출 대비 비중(0.08%)과 지역경제 순환 효과를 함께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502920" cy="502920"/>
          </a:xfrm>
          <a:prstGeom prst="round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402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1C40F"/>
                </a:solidFill>
              </a:rPr>
              <a:t>인과관계 분석 없는
수치 나열 지양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402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6ECF2"/>
                </a:solidFill>
              </a:rPr>
              <a:t>신안↔목포 인구를 병렬 제시하는 것만으로 제로섬 주장은 사실 확인 의무 방기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59"/>
            <a:ext cx="502920" cy="502920"/>
          </a:xfrm>
          <a:prstGeom prst="round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91839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1C40F"/>
                </a:solidFill>
              </a:rPr>
              <a:t>현장의 목소리를
'답정너'로 일축 말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91839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6ECF2"/>
                </a:solidFill>
              </a:rPr>
              <a:t>수급자 체감, 소상공인 매출, 마을 공동체의 질적 변화를 취재하는 현장 보도 필요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502920" cy="502920"/>
          </a:xfrm>
          <a:prstGeom prst="round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343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1C40F"/>
                </a:solidFill>
              </a:rPr>
              <a:t>정책 실험의 본질 이해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3434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6ECF2"/>
                </a:solidFill>
              </a:rPr>
              <a:t>실험 = 근거 기반 의사결정의 토대.  실험 자체를 조롱하는 보도는 정책 문화 훼손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40679"/>
            <a:ext cx="502920" cy="502920"/>
          </a:xfrm>
          <a:prstGeom prst="round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394959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1C40F"/>
                </a:solidFill>
              </a:rPr>
              <a:t>정파적 프레이밍 탈피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394959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6ECF2"/>
                </a:solidFill>
              </a:rPr>
              <a:t>특정 대통령의 정책이기 이전에, 인구 소멸 위기에 대한 사회적 대응으로 보도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3498DB"/>
                </a:solidFill>
              </a:rPr>
              <a:t>6. 맺으며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84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농어촌 소멸은 대한민국이 당면한</a:t>
            </a:r>
          </a:p>
          <a:p>
            <a:pPr algn="l">
              <a:spcBef>
                <a:spcPts val="200"/>
              </a:spcBef>
            </a:pPr>
            <a:r>
              <a:rPr sz="2200" b="0">
                <a:solidFill>
                  <a:srgbClr val="FFFFFF"/>
                </a:solidFill>
              </a:rPr>
              <a:t>가장 절박한 구조적 위기 중 하나입니다.</a:t>
            </a:r>
          </a:p>
          <a:p>
            <a:pPr algn="l">
              <a:spcBef>
                <a:spcPts val="1600"/>
              </a:spcBef>
            </a:pPr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E6ECF2"/>
                </a:solidFill>
              </a:rPr>
              <a:t>불완전한 응답이라도 시도하고,</a:t>
            </a:r>
          </a:p>
          <a:p>
            <a:pPr algn="l">
              <a:spcBef>
                <a:spcPts val="200"/>
              </a:spcBef>
            </a:pPr>
            <a:r>
              <a:rPr sz="2000" b="0">
                <a:solidFill>
                  <a:srgbClr val="E6ECF2"/>
                </a:solidFill>
              </a:rPr>
              <a:t>그 결과를 엄밀하게 평가하여</a:t>
            </a:r>
          </a:p>
          <a:p>
            <a:pPr algn="l">
              <a:spcBef>
                <a:spcPts val="200"/>
              </a:spcBef>
            </a:pPr>
            <a:r>
              <a:rPr sz="2000" b="0">
                <a:solidFill>
                  <a:srgbClr val="E6ECF2"/>
                </a:solidFill>
              </a:rPr>
              <a:t>더 나은 정책으로 나아가는 것이 성숙한 사회의 태도입니다.</a:t>
            </a:r>
          </a:p>
          <a:p>
            <a:pPr algn="l">
              <a:spcBef>
                <a:spcPts val="2000"/>
              </a:spcBef>
            </a:pPr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40480"/>
            <a:ext cx="9448495" cy="1463040"/>
          </a:xfrm>
          <a:prstGeom prst="roundRect">
            <a:avLst/>
          </a:prstGeom>
          <a:solidFill>
            <a:srgbClr val="263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3977639"/>
            <a:ext cx="88998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현재의 일부 언론 보도는 농어촌 기본소득을 제로섬으로 프레이밍하는 데</a:t>
            </a:r>
          </a:p>
          <a:p>
            <a:pPr algn="ctr">
              <a:spcBef>
                <a:spcPts val="400"/>
              </a:spcBef>
            </a:pPr>
            <a:r>
              <a:rPr sz="1800" b="1">
                <a:solidFill>
                  <a:srgbClr val="F1C40F"/>
                </a:solidFill>
              </a:rPr>
              <a:t>적극 기여하고 있으며, 이것이야말로 가장 심각한 왜곡입니다.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3498DB"/>
                </a:solidFill>
              </a:rPr>
              <a:t>언론이 왜곡의 재생산자가 아니라, 숙의 민주주의의 촉진자가 되기를 바랍니다.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498DB"/>
                </a:solidFill>
              </a:rPr>
              <a:t>송종운</a:t>
            </a:r>
          </a:p>
          <a:p>
            <a:pPr algn="ctr">
              <a:spcBef>
                <a:spcPts val="800"/>
              </a:spcBef>
            </a:pPr>
            <a:r>
              <a:rPr sz="1800" b="0">
                <a:solidFill>
                  <a:srgbClr val="C8D2DC"/>
                </a:solidFill>
              </a:rPr>
              <a:t>기본사회정책연구소 소장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